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9" r:id="rId1"/>
  </p:sldMasterIdLst>
  <p:notesMasterIdLst>
    <p:notesMasterId r:id="rId11"/>
  </p:notesMasterIdLst>
  <p:sldIdLst>
    <p:sldId id="258" r:id="rId2"/>
    <p:sldId id="259" r:id="rId3"/>
    <p:sldId id="260" r:id="rId4"/>
    <p:sldId id="261" r:id="rId5"/>
    <p:sldId id="262" r:id="rId6"/>
    <p:sldId id="265" r:id="rId7"/>
    <p:sldId id="266" r:id="rId8"/>
    <p:sldId id="264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03"/>
  </p:normalViewPr>
  <p:slideViewPr>
    <p:cSldViewPr snapToGrid="0">
      <p:cViewPr varScale="1">
        <p:scale>
          <a:sx n="126" d="100"/>
          <a:sy n="126" d="100"/>
        </p:scale>
        <p:origin x="232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B46BA97-F347-4694-A028-50F58B009BAA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787740A5-3E3D-4441-8284-1D6C5661F867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1 – Kickoff &amp; Direction</a:t>
          </a:r>
          <a:br>
            <a:rPr lang="en-US" dirty="0"/>
          </a:br>
          <a:r>
            <a:rPr lang="en-US" dirty="0"/>
            <a:t>Finalize project idea, define system architecture, begin research on RSA, SHA-256, and digital signatures.</a:t>
          </a:r>
        </a:p>
      </dgm:t>
    </dgm:pt>
    <dgm:pt modelId="{FCE3997F-579A-464F-A5BC-5A949D320DE4}" type="parTrans" cxnId="{8EA2EE22-5711-4708-A71F-885CCF2BD65F}">
      <dgm:prSet/>
      <dgm:spPr/>
      <dgm:t>
        <a:bodyPr/>
        <a:lstStyle/>
        <a:p>
          <a:endParaRPr lang="en-US"/>
        </a:p>
      </dgm:t>
    </dgm:pt>
    <dgm:pt modelId="{DE7A3F56-60C3-4928-9E6E-9254026E2637}" type="sibTrans" cxnId="{8EA2EE22-5711-4708-A71F-885CCF2BD65F}">
      <dgm:prSet/>
      <dgm:spPr/>
      <dgm:t>
        <a:bodyPr/>
        <a:lstStyle/>
        <a:p>
          <a:endParaRPr lang="en-US"/>
        </a:p>
      </dgm:t>
    </dgm:pt>
    <dgm:pt modelId="{D81DBDA7-7C92-4FDC-957C-4500136380C6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2 – Proposal &amp; Scope Lock</a:t>
          </a:r>
          <a:br>
            <a:rPr lang="en-US" dirty="0"/>
          </a:br>
          <a:r>
            <a:rPr lang="en-US" dirty="0"/>
            <a:t>Submit proposal, finalize project scope, define team responsibilities and module breakdown.</a:t>
          </a:r>
        </a:p>
      </dgm:t>
    </dgm:pt>
    <dgm:pt modelId="{2A238788-C92B-4C18-9EC4-F620EE858E24}" type="parTrans" cxnId="{E118DDCB-E331-4983-9DA0-80767DD61AF3}">
      <dgm:prSet/>
      <dgm:spPr/>
      <dgm:t>
        <a:bodyPr/>
        <a:lstStyle/>
        <a:p>
          <a:endParaRPr lang="en-US"/>
        </a:p>
      </dgm:t>
    </dgm:pt>
    <dgm:pt modelId="{56860824-5E14-4C13-8568-DB0DD4B826DD}" type="sibTrans" cxnId="{E118DDCB-E331-4983-9DA0-80767DD61AF3}">
      <dgm:prSet/>
      <dgm:spPr/>
      <dgm:t>
        <a:bodyPr/>
        <a:lstStyle/>
        <a:p>
          <a:endParaRPr lang="en-US"/>
        </a:p>
      </dgm:t>
    </dgm:pt>
    <dgm:pt modelId="{904FA65D-C2FF-48BC-9075-3924A2BD4BEF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3 – Threat Model &amp; Security Requirements</a:t>
          </a:r>
          <a:br>
            <a:rPr lang="en-US" dirty="0"/>
          </a:br>
          <a:r>
            <a:rPr lang="en-US" dirty="0"/>
            <a:t>Identify potential threats (tampering, impersonation, replay attacks) and define confidentiality, integrity, and authentication requirements.</a:t>
          </a:r>
        </a:p>
      </dgm:t>
    </dgm:pt>
    <dgm:pt modelId="{7C9FA079-DBF4-4D2C-B531-11AFD63935B6}" type="parTrans" cxnId="{FF5E8381-04FF-4512-AFD4-153D46DB3E42}">
      <dgm:prSet/>
      <dgm:spPr/>
      <dgm:t>
        <a:bodyPr/>
        <a:lstStyle/>
        <a:p>
          <a:endParaRPr lang="en-US"/>
        </a:p>
      </dgm:t>
    </dgm:pt>
    <dgm:pt modelId="{BEBAF4FB-6234-4433-959A-DEE1971ACB93}" type="sibTrans" cxnId="{FF5E8381-04FF-4512-AFD4-153D46DB3E42}">
      <dgm:prSet/>
      <dgm:spPr/>
      <dgm:t>
        <a:bodyPr/>
        <a:lstStyle/>
        <a:p>
          <a:endParaRPr lang="en-US"/>
        </a:p>
      </dgm:t>
    </dgm:pt>
    <dgm:pt modelId="{061938F8-E878-4C6E-9087-7565126045AE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4 – Spring Break</a:t>
          </a:r>
          <a:b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dirty="0"/>
            <a:t>Internal planning and preparation for implementation.</a:t>
          </a:r>
        </a:p>
      </dgm:t>
    </dgm:pt>
    <dgm:pt modelId="{97BC9967-6C1B-44D9-8C0D-8DFCDBF125AC}" type="parTrans" cxnId="{9680D50A-B634-4808-A80B-3D8EDEA79DE7}">
      <dgm:prSet/>
      <dgm:spPr/>
      <dgm:t>
        <a:bodyPr/>
        <a:lstStyle/>
        <a:p>
          <a:endParaRPr lang="en-US"/>
        </a:p>
      </dgm:t>
    </dgm:pt>
    <dgm:pt modelId="{12B707E5-BA19-4BC7-BDDB-BE8CC717E317}" type="sibTrans" cxnId="{9680D50A-B634-4808-A80B-3D8EDEA79DE7}">
      <dgm:prSet/>
      <dgm:spPr/>
      <dgm:t>
        <a:bodyPr/>
        <a:lstStyle/>
        <a:p>
          <a:endParaRPr lang="en-US"/>
        </a:p>
      </dgm:t>
    </dgm:pt>
    <dgm:pt modelId="{3D9C3AB5-E2B6-4B3A-B925-F9DC247639BC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5 – Crypto Design Decisions &amp; Spec Freeze</a:t>
          </a:r>
          <a:br>
            <a:rPr lang="en-US" dirty="0"/>
          </a:br>
          <a:r>
            <a:rPr lang="en-US" dirty="0"/>
            <a:t>Finalize encryption algorithm (RSA), hashing method (SHA-256), signature workflow, and system design review.</a:t>
          </a:r>
        </a:p>
      </dgm:t>
    </dgm:pt>
    <dgm:pt modelId="{ACD1F929-B075-41CA-9AA0-52B3D6EA928E}" type="parTrans" cxnId="{9AEEC42A-854B-4A36-9045-E9E3518FB772}">
      <dgm:prSet/>
      <dgm:spPr/>
      <dgm:t>
        <a:bodyPr/>
        <a:lstStyle/>
        <a:p>
          <a:endParaRPr lang="en-US"/>
        </a:p>
      </dgm:t>
    </dgm:pt>
    <dgm:pt modelId="{AD4B4A2D-715B-4D8E-86E6-9057B9AF5F54}" type="sibTrans" cxnId="{9AEEC42A-854B-4A36-9045-E9E3518FB772}">
      <dgm:prSet/>
      <dgm:spPr/>
      <dgm:t>
        <a:bodyPr/>
        <a:lstStyle/>
        <a:p>
          <a:endParaRPr lang="en-US"/>
        </a:p>
      </dgm:t>
    </dgm:pt>
    <dgm:pt modelId="{BF818602-F531-4D40-A8EF-63E38B5B62EF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6 – Implementation Skeleton &amp; First Secure Flow</a:t>
          </a:r>
          <a:br>
            <a:rPr lang="en-US" dirty="0"/>
          </a:br>
          <a:r>
            <a:rPr lang="en-US" dirty="0"/>
            <a:t>Implement authentication module, RSA key generation, vote encryption, and initial secure end-to-end flow.</a:t>
          </a:r>
        </a:p>
      </dgm:t>
    </dgm:pt>
    <dgm:pt modelId="{00A217A3-613C-42D9-8DDD-16863C403C40}" type="parTrans" cxnId="{0875F585-2EDC-4CBE-94E2-4EC2EA2A1447}">
      <dgm:prSet/>
      <dgm:spPr/>
      <dgm:t>
        <a:bodyPr/>
        <a:lstStyle/>
        <a:p>
          <a:endParaRPr lang="en-US"/>
        </a:p>
      </dgm:t>
    </dgm:pt>
    <dgm:pt modelId="{16D89783-7D67-4D27-AF63-7D7B7C5F1991}" type="sibTrans" cxnId="{0875F585-2EDC-4CBE-94E2-4EC2EA2A1447}">
      <dgm:prSet/>
      <dgm:spPr/>
      <dgm:t>
        <a:bodyPr/>
        <a:lstStyle/>
        <a:p>
          <a:endParaRPr lang="en-US"/>
        </a:p>
      </dgm:t>
    </dgm:pt>
    <dgm:pt modelId="{3A936099-3FC1-4FCE-AAE3-C085A2AE4EAE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7 – MVP Demo Release</a:t>
          </a:r>
          <a:br>
            <a:rPr lang="en-US" dirty="0"/>
          </a:br>
          <a:r>
            <a:rPr lang="en-US" dirty="0"/>
            <a:t>Working login system, encrypted vote storage, signature verification, and basic voting demo.</a:t>
          </a:r>
        </a:p>
      </dgm:t>
    </dgm:pt>
    <dgm:pt modelId="{7D3D4ED1-05B8-4B66-B1D3-AC21719E6220}" type="parTrans" cxnId="{1FF72991-6EAF-42FE-88C6-CC363F747122}">
      <dgm:prSet/>
      <dgm:spPr/>
      <dgm:t>
        <a:bodyPr/>
        <a:lstStyle/>
        <a:p>
          <a:endParaRPr lang="en-US"/>
        </a:p>
      </dgm:t>
    </dgm:pt>
    <dgm:pt modelId="{97AEE8AB-CB63-4FBF-84B0-02069496A29C}" type="sibTrans" cxnId="{1FF72991-6EAF-42FE-88C6-CC363F747122}">
      <dgm:prSet/>
      <dgm:spPr/>
      <dgm:t>
        <a:bodyPr/>
        <a:lstStyle/>
        <a:p>
          <a:endParaRPr lang="en-US"/>
        </a:p>
      </dgm:t>
    </dgm:pt>
    <dgm:pt modelId="{A56CDDA5-91C6-4A1B-BBC7-774FC24BB8C7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8 – Break-It Week (Attack &amp; Evidence)</a:t>
          </a:r>
          <a:br>
            <a:rPr lang="en-US" dirty="0"/>
          </a:br>
          <a:r>
            <a:rPr lang="en-US" dirty="0"/>
            <a:t>Perform attack simulations, test tampering attempts, verify signature validation, and document findings.</a:t>
          </a:r>
        </a:p>
      </dgm:t>
    </dgm:pt>
    <dgm:pt modelId="{77B22BED-D220-4885-A081-A7491D2A591F}" type="parTrans" cxnId="{62E0154B-3561-42D7-B5C2-AFEE89136BBF}">
      <dgm:prSet/>
      <dgm:spPr/>
      <dgm:t>
        <a:bodyPr/>
        <a:lstStyle/>
        <a:p>
          <a:endParaRPr lang="en-US"/>
        </a:p>
      </dgm:t>
    </dgm:pt>
    <dgm:pt modelId="{EEFB0E0B-703B-4CD1-8D01-15E4496D2CF6}" type="sibTrans" cxnId="{62E0154B-3561-42D7-B5C2-AFEE89136BBF}">
      <dgm:prSet/>
      <dgm:spPr/>
      <dgm:t>
        <a:bodyPr/>
        <a:lstStyle/>
        <a:p>
          <a:endParaRPr lang="en-US"/>
        </a:p>
      </dgm:t>
    </dgm:pt>
    <dgm:pt modelId="{C079634F-BD30-43B5-9CBB-25442C8D4F7F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9 – Fix &amp; Hardening</a:t>
          </a:r>
          <a:br>
            <a:rPr lang="en-US" dirty="0"/>
          </a:br>
          <a:r>
            <a:rPr lang="en-US" dirty="0"/>
            <a:t>Address vulnerabilities, strengthen input validation, improve security checks, and perform testing.</a:t>
          </a:r>
        </a:p>
      </dgm:t>
    </dgm:pt>
    <dgm:pt modelId="{42F9D33D-C62F-4388-AECD-79EB1700431A}" type="parTrans" cxnId="{A16EB84D-C414-46E4-83FE-8509A169463A}">
      <dgm:prSet/>
      <dgm:spPr/>
      <dgm:t>
        <a:bodyPr/>
        <a:lstStyle/>
        <a:p>
          <a:endParaRPr lang="en-US"/>
        </a:p>
      </dgm:t>
    </dgm:pt>
    <dgm:pt modelId="{5D7E03F0-408E-4A5A-9431-17DBF4FFCAA4}" type="sibTrans" cxnId="{A16EB84D-C414-46E4-83FE-8509A169463A}">
      <dgm:prSet/>
      <dgm:spPr/>
      <dgm:t>
        <a:bodyPr/>
        <a:lstStyle/>
        <a:p>
          <a:endParaRPr lang="en-US"/>
        </a:p>
      </dgm:t>
    </dgm:pt>
    <dgm:pt modelId="{008B7B72-5A91-49D3-B2C8-6651FB71FFFC}">
      <dgm:prSet/>
      <dgm:spPr/>
      <dgm:t>
        <a:bodyPr/>
        <a:lstStyle/>
        <a:p>
          <a:r>
            <a:rPr lang="en-US" b="1" dirty="0">
              <a:latin typeface="Times New Roman" panose="02020603050405020304" pitchFamily="18" charset="0"/>
              <a:cs typeface="Times New Roman" panose="02020603050405020304" pitchFamily="18" charset="0"/>
            </a:rPr>
            <a:t>Week 10 – Final Package &amp; Presentation</a:t>
          </a:r>
          <a:br>
            <a:rPr lang="en-US" dirty="0"/>
          </a:br>
          <a:r>
            <a:rPr lang="en-US" dirty="0"/>
            <a:t>Complete documentation, finalize Git repository, conduct final testing, and prepare final presentation.</a:t>
          </a:r>
        </a:p>
      </dgm:t>
    </dgm:pt>
    <dgm:pt modelId="{5E40483D-5C56-4635-B7CC-82D07BE8FCAF}" type="parTrans" cxnId="{1F461BF3-5E7E-469C-AA1E-DFFF4E233A06}">
      <dgm:prSet/>
      <dgm:spPr/>
      <dgm:t>
        <a:bodyPr/>
        <a:lstStyle/>
        <a:p>
          <a:endParaRPr lang="en-US"/>
        </a:p>
      </dgm:t>
    </dgm:pt>
    <dgm:pt modelId="{AE0D0B96-0521-49E9-9B97-72939BDF94BD}" type="sibTrans" cxnId="{1F461BF3-5E7E-469C-AA1E-DFFF4E233A06}">
      <dgm:prSet/>
      <dgm:spPr/>
      <dgm:t>
        <a:bodyPr/>
        <a:lstStyle/>
        <a:p>
          <a:endParaRPr lang="en-US"/>
        </a:p>
      </dgm:t>
    </dgm:pt>
    <dgm:pt modelId="{699F0145-83C8-F64A-98C0-3DAD0E7E119B}" type="pres">
      <dgm:prSet presAssocID="{1B46BA97-F347-4694-A028-50F58B009BAA}" presName="diagram" presStyleCnt="0">
        <dgm:presLayoutVars>
          <dgm:dir/>
          <dgm:resizeHandles val="exact"/>
        </dgm:presLayoutVars>
      </dgm:prSet>
      <dgm:spPr/>
    </dgm:pt>
    <dgm:pt modelId="{81C7C3AE-4540-9E4B-9DD2-32E2240C3592}" type="pres">
      <dgm:prSet presAssocID="{787740A5-3E3D-4441-8284-1D6C5661F867}" presName="node" presStyleLbl="node1" presStyleIdx="0" presStyleCnt="10">
        <dgm:presLayoutVars>
          <dgm:bulletEnabled val="1"/>
        </dgm:presLayoutVars>
      </dgm:prSet>
      <dgm:spPr/>
    </dgm:pt>
    <dgm:pt modelId="{EA5C06EE-F242-9B41-ADCF-12361DF0C21B}" type="pres">
      <dgm:prSet presAssocID="{DE7A3F56-60C3-4928-9E6E-9254026E2637}" presName="sibTrans" presStyleCnt="0"/>
      <dgm:spPr/>
    </dgm:pt>
    <dgm:pt modelId="{91C0BC4B-A5CD-284E-BF00-8A6EB1445A8C}" type="pres">
      <dgm:prSet presAssocID="{D81DBDA7-7C92-4FDC-957C-4500136380C6}" presName="node" presStyleLbl="node1" presStyleIdx="1" presStyleCnt="10">
        <dgm:presLayoutVars>
          <dgm:bulletEnabled val="1"/>
        </dgm:presLayoutVars>
      </dgm:prSet>
      <dgm:spPr/>
    </dgm:pt>
    <dgm:pt modelId="{A51B4DCE-F3A4-BC40-8094-136A1515F8B4}" type="pres">
      <dgm:prSet presAssocID="{56860824-5E14-4C13-8568-DB0DD4B826DD}" presName="sibTrans" presStyleCnt="0"/>
      <dgm:spPr/>
    </dgm:pt>
    <dgm:pt modelId="{F5A133D3-95FE-F643-9BE8-0653894DCC7D}" type="pres">
      <dgm:prSet presAssocID="{904FA65D-C2FF-48BC-9075-3924A2BD4BEF}" presName="node" presStyleLbl="node1" presStyleIdx="2" presStyleCnt="10">
        <dgm:presLayoutVars>
          <dgm:bulletEnabled val="1"/>
        </dgm:presLayoutVars>
      </dgm:prSet>
      <dgm:spPr/>
    </dgm:pt>
    <dgm:pt modelId="{57EB83E8-3077-0C40-85C8-C872BEC1C5AA}" type="pres">
      <dgm:prSet presAssocID="{BEBAF4FB-6234-4433-959A-DEE1971ACB93}" presName="sibTrans" presStyleCnt="0"/>
      <dgm:spPr/>
    </dgm:pt>
    <dgm:pt modelId="{B4083438-53F6-F047-992A-8BF53945A6B0}" type="pres">
      <dgm:prSet presAssocID="{061938F8-E878-4C6E-9087-7565126045AE}" presName="node" presStyleLbl="node1" presStyleIdx="3" presStyleCnt="10">
        <dgm:presLayoutVars>
          <dgm:bulletEnabled val="1"/>
        </dgm:presLayoutVars>
      </dgm:prSet>
      <dgm:spPr/>
    </dgm:pt>
    <dgm:pt modelId="{088376A4-FE01-F04C-B55E-5C14E800CED6}" type="pres">
      <dgm:prSet presAssocID="{12B707E5-BA19-4BC7-BDDB-BE8CC717E317}" presName="sibTrans" presStyleCnt="0"/>
      <dgm:spPr/>
    </dgm:pt>
    <dgm:pt modelId="{9FAF88F6-D4AB-3240-8544-E7D5BA3DF98F}" type="pres">
      <dgm:prSet presAssocID="{3D9C3AB5-E2B6-4B3A-B925-F9DC247639BC}" presName="node" presStyleLbl="node1" presStyleIdx="4" presStyleCnt="10">
        <dgm:presLayoutVars>
          <dgm:bulletEnabled val="1"/>
        </dgm:presLayoutVars>
      </dgm:prSet>
      <dgm:spPr/>
    </dgm:pt>
    <dgm:pt modelId="{7E42E440-69C9-8045-BF29-44AE80E99EF2}" type="pres">
      <dgm:prSet presAssocID="{AD4B4A2D-715B-4D8E-86E6-9057B9AF5F54}" presName="sibTrans" presStyleCnt="0"/>
      <dgm:spPr/>
    </dgm:pt>
    <dgm:pt modelId="{59430A37-EE29-5043-8325-45A704DF5BC5}" type="pres">
      <dgm:prSet presAssocID="{BF818602-F531-4D40-A8EF-63E38B5B62EF}" presName="node" presStyleLbl="node1" presStyleIdx="5" presStyleCnt="10">
        <dgm:presLayoutVars>
          <dgm:bulletEnabled val="1"/>
        </dgm:presLayoutVars>
      </dgm:prSet>
      <dgm:spPr/>
    </dgm:pt>
    <dgm:pt modelId="{95C4F0D7-A194-ED40-BB3E-AA25D75FCF5F}" type="pres">
      <dgm:prSet presAssocID="{16D89783-7D67-4D27-AF63-7D7B7C5F1991}" presName="sibTrans" presStyleCnt="0"/>
      <dgm:spPr/>
    </dgm:pt>
    <dgm:pt modelId="{FC0FE8FC-0786-4C4A-935E-9DD2220F7872}" type="pres">
      <dgm:prSet presAssocID="{3A936099-3FC1-4FCE-AAE3-C085A2AE4EAE}" presName="node" presStyleLbl="node1" presStyleIdx="6" presStyleCnt="10">
        <dgm:presLayoutVars>
          <dgm:bulletEnabled val="1"/>
        </dgm:presLayoutVars>
      </dgm:prSet>
      <dgm:spPr/>
    </dgm:pt>
    <dgm:pt modelId="{13680F26-94C9-7245-B13B-7CD538586586}" type="pres">
      <dgm:prSet presAssocID="{97AEE8AB-CB63-4FBF-84B0-02069496A29C}" presName="sibTrans" presStyleCnt="0"/>
      <dgm:spPr/>
    </dgm:pt>
    <dgm:pt modelId="{372624B0-0A22-6F49-930E-D0E74D46255A}" type="pres">
      <dgm:prSet presAssocID="{A56CDDA5-91C6-4A1B-BBC7-774FC24BB8C7}" presName="node" presStyleLbl="node1" presStyleIdx="7" presStyleCnt="10">
        <dgm:presLayoutVars>
          <dgm:bulletEnabled val="1"/>
        </dgm:presLayoutVars>
      </dgm:prSet>
      <dgm:spPr/>
    </dgm:pt>
    <dgm:pt modelId="{95FD3813-E174-044B-B19A-FBD73BF45E72}" type="pres">
      <dgm:prSet presAssocID="{EEFB0E0B-703B-4CD1-8D01-15E4496D2CF6}" presName="sibTrans" presStyleCnt="0"/>
      <dgm:spPr/>
    </dgm:pt>
    <dgm:pt modelId="{C41DAA88-F840-ED49-8E32-58BA4DEDB338}" type="pres">
      <dgm:prSet presAssocID="{C079634F-BD30-43B5-9CBB-25442C8D4F7F}" presName="node" presStyleLbl="node1" presStyleIdx="8" presStyleCnt="10">
        <dgm:presLayoutVars>
          <dgm:bulletEnabled val="1"/>
        </dgm:presLayoutVars>
      </dgm:prSet>
      <dgm:spPr/>
    </dgm:pt>
    <dgm:pt modelId="{0DF232D1-C64F-1D4D-BF50-F2D8E8DCEC6F}" type="pres">
      <dgm:prSet presAssocID="{5D7E03F0-408E-4A5A-9431-17DBF4FFCAA4}" presName="sibTrans" presStyleCnt="0"/>
      <dgm:spPr/>
    </dgm:pt>
    <dgm:pt modelId="{8A5C971D-2A89-DB48-8A81-B827D83CD664}" type="pres">
      <dgm:prSet presAssocID="{008B7B72-5A91-49D3-B2C8-6651FB71FFFC}" presName="node" presStyleLbl="node1" presStyleIdx="9" presStyleCnt="10">
        <dgm:presLayoutVars>
          <dgm:bulletEnabled val="1"/>
        </dgm:presLayoutVars>
      </dgm:prSet>
      <dgm:spPr/>
    </dgm:pt>
  </dgm:ptLst>
  <dgm:cxnLst>
    <dgm:cxn modelId="{9680D50A-B634-4808-A80B-3D8EDEA79DE7}" srcId="{1B46BA97-F347-4694-A028-50F58B009BAA}" destId="{061938F8-E878-4C6E-9087-7565126045AE}" srcOrd="3" destOrd="0" parTransId="{97BC9967-6C1B-44D9-8C0D-8DFCDBF125AC}" sibTransId="{12B707E5-BA19-4BC7-BDDB-BE8CC717E317}"/>
    <dgm:cxn modelId="{B1070421-B558-704F-8510-ACFA2C9F71A4}" type="presOf" srcId="{A56CDDA5-91C6-4A1B-BBC7-774FC24BB8C7}" destId="{372624B0-0A22-6F49-930E-D0E74D46255A}" srcOrd="0" destOrd="0" presId="urn:microsoft.com/office/officeart/2005/8/layout/default"/>
    <dgm:cxn modelId="{8EA2EE22-5711-4708-A71F-885CCF2BD65F}" srcId="{1B46BA97-F347-4694-A028-50F58B009BAA}" destId="{787740A5-3E3D-4441-8284-1D6C5661F867}" srcOrd="0" destOrd="0" parTransId="{FCE3997F-579A-464F-A5BC-5A949D320DE4}" sibTransId="{DE7A3F56-60C3-4928-9E6E-9254026E2637}"/>
    <dgm:cxn modelId="{9AEEC42A-854B-4A36-9045-E9E3518FB772}" srcId="{1B46BA97-F347-4694-A028-50F58B009BAA}" destId="{3D9C3AB5-E2B6-4B3A-B925-F9DC247639BC}" srcOrd="4" destOrd="0" parTransId="{ACD1F929-B075-41CA-9AA0-52B3D6EA928E}" sibTransId="{AD4B4A2D-715B-4D8E-86E6-9057B9AF5F54}"/>
    <dgm:cxn modelId="{62E0154B-3561-42D7-B5C2-AFEE89136BBF}" srcId="{1B46BA97-F347-4694-A028-50F58B009BAA}" destId="{A56CDDA5-91C6-4A1B-BBC7-774FC24BB8C7}" srcOrd="7" destOrd="0" parTransId="{77B22BED-D220-4885-A081-A7491D2A591F}" sibTransId="{EEFB0E0B-703B-4CD1-8D01-15E4496D2CF6}"/>
    <dgm:cxn modelId="{A16EB84D-C414-46E4-83FE-8509A169463A}" srcId="{1B46BA97-F347-4694-A028-50F58B009BAA}" destId="{C079634F-BD30-43B5-9CBB-25442C8D4F7F}" srcOrd="8" destOrd="0" parTransId="{42F9D33D-C62F-4388-AECD-79EB1700431A}" sibTransId="{5D7E03F0-408E-4A5A-9431-17DBF4FFCAA4}"/>
    <dgm:cxn modelId="{C247985A-D571-E24C-B548-CA67FCB4B982}" type="presOf" srcId="{787740A5-3E3D-4441-8284-1D6C5661F867}" destId="{81C7C3AE-4540-9E4B-9DD2-32E2240C3592}" srcOrd="0" destOrd="0" presId="urn:microsoft.com/office/officeart/2005/8/layout/default"/>
    <dgm:cxn modelId="{4FC26969-4669-AD46-B678-30803387D600}" type="presOf" srcId="{061938F8-E878-4C6E-9087-7565126045AE}" destId="{B4083438-53F6-F047-992A-8BF53945A6B0}" srcOrd="0" destOrd="0" presId="urn:microsoft.com/office/officeart/2005/8/layout/default"/>
    <dgm:cxn modelId="{6C2E6F7E-4983-AB47-91CA-018A67473D21}" type="presOf" srcId="{1B46BA97-F347-4694-A028-50F58B009BAA}" destId="{699F0145-83C8-F64A-98C0-3DAD0E7E119B}" srcOrd="0" destOrd="0" presId="urn:microsoft.com/office/officeart/2005/8/layout/default"/>
    <dgm:cxn modelId="{FF5E8381-04FF-4512-AFD4-153D46DB3E42}" srcId="{1B46BA97-F347-4694-A028-50F58B009BAA}" destId="{904FA65D-C2FF-48BC-9075-3924A2BD4BEF}" srcOrd="2" destOrd="0" parTransId="{7C9FA079-DBF4-4D2C-B531-11AFD63935B6}" sibTransId="{BEBAF4FB-6234-4433-959A-DEE1971ACB93}"/>
    <dgm:cxn modelId="{0875F585-2EDC-4CBE-94E2-4EC2EA2A1447}" srcId="{1B46BA97-F347-4694-A028-50F58B009BAA}" destId="{BF818602-F531-4D40-A8EF-63E38B5B62EF}" srcOrd="5" destOrd="0" parTransId="{00A217A3-613C-42D9-8DDD-16863C403C40}" sibTransId="{16D89783-7D67-4D27-AF63-7D7B7C5F1991}"/>
    <dgm:cxn modelId="{49C03C89-5466-304A-AD51-9690FABE1608}" type="presOf" srcId="{3A936099-3FC1-4FCE-AAE3-C085A2AE4EAE}" destId="{FC0FE8FC-0786-4C4A-935E-9DD2220F7872}" srcOrd="0" destOrd="0" presId="urn:microsoft.com/office/officeart/2005/8/layout/default"/>
    <dgm:cxn modelId="{1FF72991-6EAF-42FE-88C6-CC363F747122}" srcId="{1B46BA97-F347-4694-A028-50F58B009BAA}" destId="{3A936099-3FC1-4FCE-AAE3-C085A2AE4EAE}" srcOrd="6" destOrd="0" parTransId="{7D3D4ED1-05B8-4B66-B1D3-AC21719E6220}" sibTransId="{97AEE8AB-CB63-4FBF-84B0-02069496A29C}"/>
    <dgm:cxn modelId="{CCEDD196-780E-6045-9DBF-789A008137C3}" type="presOf" srcId="{C079634F-BD30-43B5-9CBB-25442C8D4F7F}" destId="{C41DAA88-F840-ED49-8E32-58BA4DEDB338}" srcOrd="0" destOrd="0" presId="urn:microsoft.com/office/officeart/2005/8/layout/default"/>
    <dgm:cxn modelId="{183CEEAB-CE98-574F-AF6F-77F11B54A0E1}" type="presOf" srcId="{3D9C3AB5-E2B6-4B3A-B925-F9DC247639BC}" destId="{9FAF88F6-D4AB-3240-8544-E7D5BA3DF98F}" srcOrd="0" destOrd="0" presId="urn:microsoft.com/office/officeart/2005/8/layout/default"/>
    <dgm:cxn modelId="{EAF871AC-DA34-8647-9165-A049815A239C}" type="presOf" srcId="{BF818602-F531-4D40-A8EF-63E38B5B62EF}" destId="{59430A37-EE29-5043-8325-45A704DF5BC5}" srcOrd="0" destOrd="0" presId="urn:microsoft.com/office/officeart/2005/8/layout/default"/>
    <dgm:cxn modelId="{E118DDCB-E331-4983-9DA0-80767DD61AF3}" srcId="{1B46BA97-F347-4694-A028-50F58B009BAA}" destId="{D81DBDA7-7C92-4FDC-957C-4500136380C6}" srcOrd="1" destOrd="0" parTransId="{2A238788-C92B-4C18-9EC4-F620EE858E24}" sibTransId="{56860824-5E14-4C13-8568-DB0DD4B826DD}"/>
    <dgm:cxn modelId="{FE8116D2-FBA3-8F4D-A41D-1FA31C28BEBA}" type="presOf" srcId="{D81DBDA7-7C92-4FDC-957C-4500136380C6}" destId="{91C0BC4B-A5CD-284E-BF00-8A6EB1445A8C}" srcOrd="0" destOrd="0" presId="urn:microsoft.com/office/officeart/2005/8/layout/default"/>
    <dgm:cxn modelId="{552483D2-155B-8648-9855-4B285750710E}" type="presOf" srcId="{904FA65D-C2FF-48BC-9075-3924A2BD4BEF}" destId="{F5A133D3-95FE-F643-9BE8-0653894DCC7D}" srcOrd="0" destOrd="0" presId="urn:microsoft.com/office/officeart/2005/8/layout/default"/>
    <dgm:cxn modelId="{E3269AD7-BDB7-0246-B227-CC061950E4E2}" type="presOf" srcId="{008B7B72-5A91-49D3-B2C8-6651FB71FFFC}" destId="{8A5C971D-2A89-DB48-8A81-B827D83CD664}" srcOrd="0" destOrd="0" presId="urn:microsoft.com/office/officeart/2005/8/layout/default"/>
    <dgm:cxn modelId="{1F461BF3-5E7E-469C-AA1E-DFFF4E233A06}" srcId="{1B46BA97-F347-4694-A028-50F58B009BAA}" destId="{008B7B72-5A91-49D3-B2C8-6651FB71FFFC}" srcOrd="9" destOrd="0" parTransId="{5E40483D-5C56-4635-B7CC-82D07BE8FCAF}" sibTransId="{AE0D0B96-0521-49E9-9B97-72939BDF94BD}"/>
    <dgm:cxn modelId="{274EC0CB-6C12-9F45-911B-F00FDE6F5CCD}" type="presParOf" srcId="{699F0145-83C8-F64A-98C0-3DAD0E7E119B}" destId="{81C7C3AE-4540-9E4B-9DD2-32E2240C3592}" srcOrd="0" destOrd="0" presId="urn:microsoft.com/office/officeart/2005/8/layout/default"/>
    <dgm:cxn modelId="{3EF63EE8-CF51-634F-968E-D8C10ABEEA5A}" type="presParOf" srcId="{699F0145-83C8-F64A-98C0-3DAD0E7E119B}" destId="{EA5C06EE-F242-9B41-ADCF-12361DF0C21B}" srcOrd="1" destOrd="0" presId="urn:microsoft.com/office/officeart/2005/8/layout/default"/>
    <dgm:cxn modelId="{7DB9AD6D-DB7B-F54A-976C-40FF21B7F96C}" type="presParOf" srcId="{699F0145-83C8-F64A-98C0-3DAD0E7E119B}" destId="{91C0BC4B-A5CD-284E-BF00-8A6EB1445A8C}" srcOrd="2" destOrd="0" presId="urn:microsoft.com/office/officeart/2005/8/layout/default"/>
    <dgm:cxn modelId="{353356CB-9E6F-CF46-B4F5-69EB8B836F33}" type="presParOf" srcId="{699F0145-83C8-F64A-98C0-3DAD0E7E119B}" destId="{A51B4DCE-F3A4-BC40-8094-136A1515F8B4}" srcOrd="3" destOrd="0" presId="urn:microsoft.com/office/officeart/2005/8/layout/default"/>
    <dgm:cxn modelId="{0CFE1161-75A8-884C-92E9-E0D3B9F4D7FE}" type="presParOf" srcId="{699F0145-83C8-F64A-98C0-3DAD0E7E119B}" destId="{F5A133D3-95FE-F643-9BE8-0653894DCC7D}" srcOrd="4" destOrd="0" presId="urn:microsoft.com/office/officeart/2005/8/layout/default"/>
    <dgm:cxn modelId="{FFA260BF-7B9A-014A-AF1B-F30DB55D3B83}" type="presParOf" srcId="{699F0145-83C8-F64A-98C0-3DAD0E7E119B}" destId="{57EB83E8-3077-0C40-85C8-C872BEC1C5AA}" srcOrd="5" destOrd="0" presId="urn:microsoft.com/office/officeart/2005/8/layout/default"/>
    <dgm:cxn modelId="{ACB1861E-98A8-2A47-BBBC-52D0EB23A19D}" type="presParOf" srcId="{699F0145-83C8-F64A-98C0-3DAD0E7E119B}" destId="{B4083438-53F6-F047-992A-8BF53945A6B0}" srcOrd="6" destOrd="0" presId="urn:microsoft.com/office/officeart/2005/8/layout/default"/>
    <dgm:cxn modelId="{760C6556-784A-E548-B3A5-C066D76703C5}" type="presParOf" srcId="{699F0145-83C8-F64A-98C0-3DAD0E7E119B}" destId="{088376A4-FE01-F04C-B55E-5C14E800CED6}" srcOrd="7" destOrd="0" presId="urn:microsoft.com/office/officeart/2005/8/layout/default"/>
    <dgm:cxn modelId="{60E0D710-E0E6-4D4E-802A-47B927FF5DE0}" type="presParOf" srcId="{699F0145-83C8-F64A-98C0-3DAD0E7E119B}" destId="{9FAF88F6-D4AB-3240-8544-E7D5BA3DF98F}" srcOrd="8" destOrd="0" presId="urn:microsoft.com/office/officeart/2005/8/layout/default"/>
    <dgm:cxn modelId="{D48212B3-6B1F-D24E-BF65-673B28C46B9B}" type="presParOf" srcId="{699F0145-83C8-F64A-98C0-3DAD0E7E119B}" destId="{7E42E440-69C9-8045-BF29-44AE80E99EF2}" srcOrd="9" destOrd="0" presId="urn:microsoft.com/office/officeart/2005/8/layout/default"/>
    <dgm:cxn modelId="{E1E05F07-374F-AD41-85D8-26298C770A06}" type="presParOf" srcId="{699F0145-83C8-F64A-98C0-3DAD0E7E119B}" destId="{59430A37-EE29-5043-8325-45A704DF5BC5}" srcOrd="10" destOrd="0" presId="urn:microsoft.com/office/officeart/2005/8/layout/default"/>
    <dgm:cxn modelId="{62C7C4F3-6742-DB42-A6C3-EE9CFD16D9AE}" type="presParOf" srcId="{699F0145-83C8-F64A-98C0-3DAD0E7E119B}" destId="{95C4F0D7-A194-ED40-BB3E-AA25D75FCF5F}" srcOrd="11" destOrd="0" presId="urn:microsoft.com/office/officeart/2005/8/layout/default"/>
    <dgm:cxn modelId="{38F12138-7651-D846-A0C7-EFC0883FA0DF}" type="presParOf" srcId="{699F0145-83C8-F64A-98C0-3DAD0E7E119B}" destId="{FC0FE8FC-0786-4C4A-935E-9DD2220F7872}" srcOrd="12" destOrd="0" presId="urn:microsoft.com/office/officeart/2005/8/layout/default"/>
    <dgm:cxn modelId="{D2932DA7-5C42-5D41-A8F2-687D5A723F00}" type="presParOf" srcId="{699F0145-83C8-F64A-98C0-3DAD0E7E119B}" destId="{13680F26-94C9-7245-B13B-7CD538586586}" srcOrd="13" destOrd="0" presId="urn:microsoft.com/office/officeart/2005/8/layout/default"/>
    <dgm:cxn modelId="{579D6655-C4E0-9F4C-9045-141656B02F3E}" type="presParOf" srcId="{699F0145-83C8-F64A-98C0-3DAD0E7E119B}" destId="{372624B0-0A22-6F49-930E-D0E74D46255A}" srcOrd="14" destOrd="0" presId="urn:microsoft.com/office/officeart/2005/8/layout/default"/>
    <dgm:cxn modelId="{ADCF4E8B-FEF3-FF4C-8989-2034BE66A717}" type="presParOf" srcId="{699F0145-83C8-F64A-98C0-3DAD0E7E119B}" destId="{95FD3813-E174-044B-B19A-FBD73BF45E72}" srcOrd="15" destOrd="0" presId="urn:microsoft.com/office/officeart/2005/8/layout/default"/>
    <dgm:cxn modelId="{A4746014-A07E-694A-8EE9-1C7802024C90}" type="presParOf" srcId="{699F0145-83C8-F64A-98C0-3DAD0E7E119B}" destId="{C41DAA88-F840-ED49-8E32-58BA4DEDB338}" srcOrd="16" destOrd="0" presId="urn:microsoft.com/office/officeart/2005/8/layout/default"/>
    <dgm:cxn modelId="{3E768BB3-0DD3-0447-975C-AC996A5152A5}" type="presParOf" srcId="{699F0145-83C8-F64A-98C0-3DAD0E7E119B}" destId="{0DF232D1-C64F-1D4D-BF50-F2D8E8DCEC6F}" srcOrd="17" destOrd="0" presId="urn:microsoft.com/office/officeart/2005/8/layout/default"/>
    <dgm:cxn modelId="{A288D109-02C5-FE49-B256-197743288807}" type="presParOf" srcId="{699F0145-83C8-F64A-98C0-3DAD0E7E119B}" destId="{8A5C971D-2A89-DB48-8A81-B827D83CD664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C7C3AE-4540-9E4B-9DD2-32E2240C3592}">
      <dsp:nvSpPr>
        <dsp:cNvPr id="0" name=""/>
        <dsp:cNvSpPr/>
      </dsp:nvSpPr>
      <dsp:spPr>
        <a:xfrm>
          <a:off x="834851" y="154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1 – Kickoff &amp; Direction</a:t>
          </a:r>
          <a:br>
            <a:rPr lang="en-US" sz="1000" kern="1200" dirty="0"/>
          </a:br>
          <a:r>
            <a:rPr lang="en-US" sz="1000" kern="1200" dirty="0"/>
            <a:t>Finalize project idea, define system architecture, begin research on RSA, SHA-256, and digital signatures.</a:t>
          </a:r>
        </a:p>
      </dsp:txBody>
      <dsp:txXfrm>
        <a:off x="834851" y="154"/>
        <a:ext cx="1915417" cy="1149250"/>
      </dsp:txXfrm>
    </dsp:sp>
    <dsp:sp modelId="{91C0BC4B-A5CD-284E-BF00-8A6EB1445A8C}">
      <dsp:nvSpPr>
        <dsp:cNvPr id="0" name=""/>
        <dsp:cNvSpPr/>
      </dsp:nvSpPr>
      <dsp:spPr>
        <a:xfrm>
          <a:off x="2941810" y="154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2 – Proposal &amp; Scope Lock</a:t>
          </a:r>
          <a:br>
            <a:rPr lang="en-US" sz="1000" kern="1200" dirty="0"/>
          </a:br>
          <a:r>
            <a:rPr lang="en-US" sz="1000" kern="1200" dirty="0"/>
            <a:t>Submit proposal, finalize project scope, define team responsibilities and module breakdown.</a:t>
          </a:r>
        </a:p>
      </dsp:txBody>
      <dsp:txXfrm>
        <a:off x="2941810" y="154"/>
        <a:ext cx="1915417" cy="1149250"/>
      </dsp:txXfrm>
    </dsp:sp>
    <dsp:sp modelId="{F5A133D3-95FE-F643-9BE8-0653894DCC7D}">
      <dsp:nvSpPr>
        <dsp:cNvPr id="0" name=""/>
        <dsp:cNvSpPr/>
      </dsp:nvSpPr>
      <dsp:spPr>
        <a:xfrm>
          <a:off x="5048770" y="154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3 – Threat Model &amp; Security Requirements</a:t>
          </a:r>
          <a:br>
            <a:rPr lang="en-US" sz="1000" kern="1200" dirty="0"/>
          </a:br>
          <a:r>
            <a:rPr lang="en-US" sz="1000" kern="1200" dirty="0"/>
            <a:t>Identify potential threats (tampering, impersonation, replay attacks) and define confidentiality, integrity, and authentication requirements.</a:t>
          </a:r>
        </a:p>
      </dsp:txBody>
      <dsp:txXfrm>
        <a:off x="5048770" y="154"/>
        <a:ext cx="1915417" cy="1149250"/>
      </dsp:txXfrm>
    </dsp:sp>
    <dsp:sp modelId="{B4083438-53F6-F047-992A-8BF53945A6B0}">
      <dsp:nvSpPr>
        <dsp:cNvPr id="0" name=""/>
        <dsp:cNvSpPr/>
      </dsp:nvSpPr>
      <dsp:spPr>
        <a:xfrm>
          <a:off x="7155729" y="154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4 – Spring Break</a:t>
          </a:r>
          <a:br>
            <a:rPr lang="en-US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1000" kern="1200" dirty="0"/>
            <a:t>Internal planning and preparation for implementation.</a:t>
          </a:r>
        </a:p>
      </dsp:txBody>
      <dsp:txXfrm>
        <a:off x="7155729" y="154"/>
        <a:ext cx="1915417" cy="1149250"/>
      </dsp:txXfrm>
    </dsp:sp>
    <dsp:sp modelId="{9FAF88F6-D4AB-3240-8544-E7D5BA3DF98F}">
      <dsp:nvSpPr>
        <dsp:cNvPr id="0" name=""/>
        <dsp:cNvSpPr/>
      </dsp:nvSpPr>
      <dsp:spPr>
        <a:xfrm>
          <a:off x="834851" y="1340947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5 – Crypto Design Decisions &amp; Spec Freeze</a:t>
          </a:r>
          <a:br>
            <a:rPr lang="en-US" sz="1000" kern="1200" dirty="0"/>
          </a:br>
          <a:r>
            <a:rPr lang="en-US" sz="1000" kern="1200" dirty="0"/>
            <a:t>Finalize encryption algorithm (RSA), hashing method (SHA-256), signature workflow, and system design review.</a:t>
          </a:r>
        </a:p>
      </dsp:txBody>
      <dsp:txXfrm>
        <a:off x="834851" y="1340947"/>
        <a:ext cx="1915417" cy="1149250"/>
      </dsp:txXfrm>
    </dsp:sp>
    <dsp:sp modelId="{59430A37-EE29-5043-8325-45A704DF5BC5}">
      <dsp:nvSpPr>
        <dsp:cNvPr id="0" name=""/>
        <dsp:cNvSpPr/>
      </dsp:nvSpPr>
      <dsp:spPr>
        <a:xfrm>
          <a:off x="2941810" y="1340947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6 – Implementation Skeleton &amp; First Secure Flow</a:t>
          </a:r>
          <a:br>
            <a:rPr lang="en-US" sz="1000" kern="1200" dirty="0"/>
          </a:br>
          <a:r>
            <a:rPr lang="en-US" sz="1000" kern="1200" dirty="0"/>
            <a:t>Implement authentication module, RSA key generation, vote encryption, and initial secure end-to-end flow.</a:t>
          </a:r>
        </a:p>
      </dsp:txBody>
      <dsp:txXfrm>
        <a:off x="2941810" y="1340947"/>
        <a:ext cx="1915417" cy="1149250"/>
      </dsp:txXfrm>
    </dsp:sp>
    <dsp:sp modelId="{FC0FE8FC-0786-4C4A-935E-9DD2220F7872}">
      <dsp:nvSpPr>
        <dsp:cNvPr id="0" name=""/>
        <dsp:cNvSpPr/>
      </dsp:nvSpPr>
      <dsp:spPr>
        <a:xfrm>
          <a:off x="5048770" y="1340947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7 – MVP Demo Release</a:t>
          </a:r>
          <a:br>
            <a:rPr lang="en-US" sz="1000" kern="1200" dirty="0"/>
          </a:br>
          <a:r>
            <a:rPr lang="en-US" sz="1000" kern="1200" dirty="0"/>
            <a:t>Working login system, encrypted vote storage, signature verification, and basic voting demo.</a:t>
          </a:r>
        </a:p>
      </dsp:txBody>
      <dsp:txXfrm>
        <a:off x="5048770" y="1340947"/>
        <a:ext cx="1915417" cy="1149250"/>
      </dsp:txXfrm>
    </dsp:sp>
    <dsp:sp modelId="{372624B0-0A22-6F49-930E-D0E74D46255A}">
      <dsp:nvSpPr>
        <dsp:cNvPr id="0" name=""/>
        <dsp:cNvSpPr/>
      </dsp:nvSpPr>
      <dsp:spPr>
        <a:xfrm>
          <a:off x="7155729" y="1340947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8 – Break-It Week (Attack &amp; Evidence)</a:t>
          </a:r>
          <a:br>
            <a:rPr lang="en-US" sz="1000" kern="1200" dirty="0"/>
          </a:br>
          <a:r>
            <a:rPr lang="en-US" sz="1000" kern="1200" dirty="0"/>
            <a:t>Perform attack simulations, test tampering attempts, verify signature validation, and document findings.</a:t>
          </a:r>
        </a:p>
      </dsp:txBody>
      <dsp:txXfrm>
        <a:off x="7155729" y="1340947"/>
        <a:ext cx="1915417" cy="1149250"/>
      </dsp:txXfrm>
    </dsp:sp>
    <dsp:sp modelId="{C41DAA88-F840-ED49-8E32-58BA4DEDB338}">
      <dsp:nvSpPr>
        <dsp:cNvPr id="0" name=""/>
        <dsp:cNvSpPr/>
      </dsp:nvSpPr>
      <dsp:spPr>
        <a:xfrm>
          <a:off x="2941810" y="2681739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9 – Fix &amp; Hardening</a:t>
          </a:r>
          <a:br>
            <a:rPr lang="en-US" sz="1000" kern="1200" dirty="0"/>
          </a:br>
          <a:r>
            <a:rPr lang="en-US" sz="1000" kern="1200" dirty="0"/>
            <a:t>Address vulnerabilities, strengthen input validation, improve security checks, and perform testing.</a:t>
          </a:r>
        </a:p>
      </dsp:txBody>
      <dsp:txXfrm>
        <a:off x="2941810" y="2681739"/>
        <a:ext cx="1915417" cy="1149250"/>
      </dsp:txXfrm>
    </dsp:sp>
    <dsp:sp modelId="{8A5C971D-2A89-DB48-8A81-B827D83CD664}">
      <dsp:nvSpPr>
        <dsp:cNvPr id="0" name=""/>
        <dsp:cNvSpPr/>
      </dsp:nvSpPr>
      <dsp:spPr>
        <a:xfrm>
          <a:off x="5048770" y="2681739"/>
          <a:ext cx="1915417" cy="114925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Week 10 – Final Package &amp; Presentation</a:t>
          </a:r>
          <a:br>
            <a:rPr lang="en-US" sz="1000" kern="1200" dirty="0"/>
          </a:br>
          <a:r>
            <a:rPr lang="en-US" sz="1000" kern="1200" dirty="0"/>
            <a:t>Complete documentation, finalize Git repository, conduct final testing, and prepare final presentation.</a:t>
          </a:r>
        </a:p>
      </dsp:txBody>
      <dsp:txXfrm>
        <a:off x="5048770" y="2681739"/>
        <a:ext cx="1915417" cy="11492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C47A78-4B58-0E4A-8018-DB6E70FD57DA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89742B-2D24-784F-95E6-7CA84B2445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23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89742B-2D24-784F-95E6-7CA84B2445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91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111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383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29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140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075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873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803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162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076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79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0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2/27/26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49674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8" r:id="rId1"/>
    <p:sldLayoutId id="2147483839" r:id="rId2"/>
    <p:sldLayoutId id="2147483840" r:id="rId3"/>
    <p:sldLayoutId id="2147483841" r:id="rId4"/>
    <p:sldLayoutId id="2147483842" r:id="rId5"/>
    <p:sldLayoutId id="2147483848" r:id="rId6"/>
    <p:sldLayoutId id="2147483843" r:id="rId7"/>
    <p:sldLayoutId id="2147483844" r:id="rId8"/>
    <p:sldLayoutId id="2147483845" r:id="rId9"/>
    <p:sldLayoutId id="2147483847" r:id="rId10"/>
    <p:sldLayoutId id="2147483846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saileshpulukuri/Secure-Digital-Voting-System-Using-Applied-Cryptography" TargetMode="External"/><Relationship Id="rId3" Type="http://schemas.openxmlformats.org/officeDocument/2006/relationships/hyperlink" Target="https://datatracker.ietf.org/doc/html/rfc8017" TargetMode="External"/><Relationship Id="rId7" Type="http://schemas.openxmlformats.org/officeDocument/2006/relationships/hyperlink" Target="https://www.usenix.org/legacy/events/usenix99/provos/provos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RFC%208017%20&#8212;%20PKCS%20#1: RSA Cryptography Standard https://datatracker.ietf.org/doc/html/rfc8017  NIST FIPS 186-4 &#8212; Digital Signature Standard https://nvlpubs.nist.gov/nistpubs/FIPS/NIST.FIPS.186-4.pdf  NIST FIPS 180-4 &#8212; Secure Hash Standard https://nvlpubs.nist.gov/nistpubs/FIPS/NIST.FIPS.180-4.pdf  Provos &amp; Mazieres &#8212; bcrypt Password Scheme https://www.usenix.org/legacy/events/usenix99/provos/provos.pdf" TargetMode="External"/><Relationship Id="rId5" Type="http://schemas.openxmlformats.org/officeDocument/2006/relationships/hyperlink" Target="https://nvlpubs.nist.gov/nistpubs/FIPS/NIST.FIPS.180-4.pdf" TargetMode="External"/><Relationship Id="rId4" Type="http://schemas.openxmlformats.org/officeDocument/2006/relationships/hyperlink" Target="https://nvlpubs.nist.gov/nistpubs/FIPS/NIST.FIPS.186-4.pdf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1C2F78B-DEE8-4195-A196-DFC51BDAD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A1D79D08-4BE8-4799-BE09-5078DFEE2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95D65A1-16CB-407F-993F-2A6D59BCC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green padlock on a circuit board&#10;&#10;AI-generated content may be incorrect.">
            <a:extLst>
              <a:ext uri="{FF2B5EF4-FFF2-40B4-BE49-F238E27FC236}">
                <a16:creationId xmlns:a16="http://schemas.microsoft.com/office/drawing/2014/main" id="{768FDB33-4C07-D82F-420C-C97B620731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006" r="7215"/>
          <a:stretch>
            <a:fillRect/>
          </a:stretch>
        </p:blipFill>
        <p:spPr>
          <a:xfrm>
            <a:off x="866911" y="10"/>
            <a:ext cx="10458178" cy="6857990"/>
          </a:xfrm>
          <a:custGeom>
            <a:avLst/>
            <a:gdLst/>
            <a:ahLst/>
            <a:cxnLst/>
            <a:rect l="l" t="t" r="r" b="b"/>
            <a:pathLst>
              <a:path w="10458178" h="6858000">
                <a:moveTo>
                  <a:pt x="6010593" y="0"/>
                </a:moveTo>
                <a:lnTo>
                  <a:pt x="8228844" y="0"/>
                </a:lnTo>
                <a:lnTo>
                  <a:pt x="8239927" y="0"/>
                </a:lnTo>
                <a:lnTo>
                  <a:pt x="10458178" y="0"/>
                </a:lnTo>
                <a:lnTo>
                  <a:pt x="4447586" y="6858000"/>
                </a:lnTo>
                <a:lnTo>
                  <a:pt x="2229335" y="6858000"/>
                </a:lnTo>
                <a:lnTo>
                  <a:pt x="2218251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1AA760-38F3-91A3-084C-AF99A7D1B0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203678"/>
            <a:ext cx="3876793" cy="179958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Secure Digital Voting System Using Applied Cryptography</a:t>
            </a:r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046353B2-C54A-470C-8F7B-7471894E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06675" y="0"/>
            <a:ext cx="6885325" cy="6858000"/>
          </a:xfrm>
          <a:custGeom>
            <a:avLst/>
            <a:gdLst>
              <a:gd name="connsiteX0" fmla="*/ 0 w 6885325"/>
              <a:gd name="connsiteY0" fmla="*/ 0 h 6858000"/>
              <a:gd name="connsiteX1" fmla="*/ 6885325 w 6885325"/>
              <a:gd name="connsiteY1" fmla="*/ 0 h 6858000"/>
              <a:gd name="connsiteX2" fmla="*/ 6885323 w 6885325"/>
              <a:gd name="connsiteY2" fmla="*/ 2 h 6858000"/>
              <a:gd name="connsiteX3" fmla="*/ 6885322 w 6885325"/>
              <a:gd name="connsiteY3" fmla="*/ 4 h 6858000"/>
              <a:gd name="connsiteX4" fmla="*/ 874733 w 6885325"/>
              <a:gd name="connsiteY4" fmla="*/ 6858000 h 6858000"/>
              <a:gd name="connsiteX5" fmla="*/ 0 w 688532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85325" h="6858000">
                <a:moveTo>
                  <a:pt x="0" y="0"/>
                </a:moveTo>
                <a:lnTo>
                  <a:pt x="6885325" y="0"/>
                </a:lnTo>
                <a:lnTo>
                  <a:pt x="6885323" y="2"/>
                </a:lnTo>
                <a:cubicBezTo>
                  <a:pt x="6885323" y="3"/>
                  <a:pt x="6885322" y="3"/>
                  <a:pt x="6885322" y="4"/>
                </a:cubicBezTo>
                <a:lnTo>
                  <a:pt x="87473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7BEE51-BCBD-301B-5CD9-E5FA7E4BC5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64128" y="3429000"/>
            <a:ext cx="3084871" cy="274319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b="1"/>
              <a:t>Team Name:</a:t>
            </a:r>
            <a:r>
              <a:rPr lang="en-US"/>
              <a:t> Brute Force</a:t>
            </a:r>
          </a:p>
          <a:p>
            <a:pPr algn="r">
              <a:lnSpc>
                <a:spcPct val="120000"/>
              </a:lnSpc>
            </a:pPr>
            <a:r>
              <a:rPr lang="en-US" b="1"/>
              <a:t>Team Members:</a:t>
            </a:r>
          </a:p>
          <a:p>
            <a:pPr marL="285750" indent="-285750" algn="r">
              <a:lnSpc>
                <a:spcPct val="120000"/>
              </a:lnSpc>
              <a:buFont typeface="Wingdings 3" charset="2"/>
              <a:buChar char=""/>
            </a:pPr>
            <a:r>
              <a:rPr lang="en-US"/>
              <a:t>Bala Satish Addala</a:t>
            </a:r>
          </a:p>
          <a:p>
            <a:pPr marL="285750" indent="-285750" algn="r">
              <a:lnSpc>
                <a:spcPct val="120000"/>
              </a:lnSpc>
              <a:buFont typeface="Wingdings 3" charset="2"/>
              <a:buChar char=""/>
            </a:pPr>
            <a:r>
              <a:rPr lang="en-US"/>
              <a:t>Sailesh Pulukuri</a:t>
            </a:r>
          </a:p>
          <a:p>
            <a:pPr marL="285750" indent="-285750" algn="r">
              <a:lnSpc>
                <a:spcPct val="120000"/>
              </a:lnSpc>
              <a:buFont typeface="Wingdings 3" charset="2"/>
              <a:buChar char=""/>
            </a:pPr>
            <a:r>
              <a:rPr lang="en-US"/>
              <a:t>Sivasai Kumar Gajula</a:t>
            </a:r>
          </a:p>
          <a:p>
            <a:pPr marL="285750" indent="-285750" algn="r">
              <a:lnSpc>
                <a:spcPct val="120000"/>
              </a:lnSpc>
              <a:buFont typeface="Wingdings 3" charset="2"/>
              <a:buChar char=""/>
            </a:pPr>
            <a:r>
              <a:rPr lang="en-US"/>
              <a:t>Tagore Suggula</a:t>
            </a:r>
          </a:p>
          <a:p>
            <a:pPr algn="r">
              <a:lnSpc>
                <a:spcPct val="120000"/>
              </a:lnSpc>
              <a:buFont typeface="Wingdings 3" charset="2"/>
              <a:buChar char="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990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3B97D3-3894-4963-90C5-4EAA66131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1725A9-DA3F-282A-4248-FFC7B1080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873" y="872935"/>
            <a:ext cx="5798126" cy="1360898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7" name="Graphic 6" descr="Lock">
            <a:extLst>
              <a:ext uri="{FF2B5EF4-FFF2-40B4-BE49-F238E27FC236}">
                <a16:creationId xmlns:a16="http://schemas.microsoft.com/office/drawing/2014/main" id="{BE40877D-794D-9876-82FA-7879B7A86B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0484" y="1906013"/>
            <a:ext cx="2975262" cy="297526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253D3-145F-7357-F42D-808DA983D9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873" y="2332026"/>
            <a:ext cx="5798126" cy="384017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in Digital Voting Systems</a:t>
            </a:r>
          </a:p>
          <a:p>
            <a:pPr>
              <a:lnSpc>
                <a:spcPct val="11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voting systems face several security challenges:</a:t>
            </a:r>
          </a:p>
          <a:p>
            <a:pPr>
              <a:lnSpc>
                <a:spcPct val="11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tampering during storage or transmission</a:t>
            </a:r>
          </a:p>
          <a:p>
            <a:pPr>
              <a:lnSpc>
                <a:spcPct val="11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 impersonation</a:t>
            </a:r>
          </a:p>
          <a:p>
            <a:pPr>
              <a:lnSpc>
                <a:spcPct val="11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voting</a:t>
            </a:r>
          </a:p>
          <a:p>
            <a:pPr>
              <a:lnSpc>
                <a:spcPct val="11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violations</a:t>
            </a:r>
          </a:p>
          <a:p>
            <a:pPr>
              <a:lnSpc>
                <a:spcPct val="11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verifiable integrity</a:t>
            </a:r>
          </a:p>
          <a:p>
            <a:pPr>
              <a:lnSpc>
                <a:spcPct val="110000"/>
              </a:lnSpc>
            </a:pP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systems may not guarantee confidentiality, authentication, and integrity simultaneously.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br>
              <a:rPr lang="en-US" sz="1300" dirty="0"/>
            </a:b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secure digital voting system using applied cryptography to address these challenges.</a:t>
            </a:r>
          </a:p>
          <a:p>
            <a:pPr>
              <a:lnSpc>
                <a:spcPct val="110000"/>
              </a:lnSpc>
            </a:pP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121593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B20E7A4-EC2C-47C8-BE55-65771E3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CF23DDA-0D09-4FE5-AE88-EBBE5E024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434EE-EC73-820E-203F-47F8DF051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1181101"/>
            <a:ext cx="3533033" cy="15621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Cryptographic Techniques Used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766FD2F-248A-4AA1-8078-E26D6E69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Content Placeholder 10">
            <a:extLst>
              <a:ext uri="{FF2B5EF4-FFF2-40B4-BE49-F238E27FC236}">
                <a16:creationId xmlns:a16="http://schemas.microsoft.com/office/drawing/2014/main" id="{D7C65BAF-0E5A-DF5B-A79E-7085B73B92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3045411"/>
              </p:ext>
            </p:extLst>
          </p:nvPr>
        </p:nvGraphicFramePr>
        <p:xfrm>
          <a:off x="6075680" y="2072657"/>
          <a:ext cx="5110208" cy="2716166"/>
        </p:xfrm>
        <a:graphic>
          <a:graphicData uri="http://schemas.openxmlformats.org/drawingml/2006/table">
            <a:tbl>
              <a:tblPr/>
              <a:tblGrid>
                <a:gridCol w="2841163">
                  <a:extLst>
                    <a:ext uri="{9D8B030D-6E8A-4147-A177-3AD203B41FA5}">
                      <a16:colId xmlns:a16="http://schemas.microsoft.com/office/drawing/2014/main" val="4128369026"/>
                    </a:ext>
                  </a:extLst>
                </a:gridCol>
                <a:gridCol w="2269045">
                  <a:extLst>
                    <a:ext uri="{9D8B030D-6E8A-4147-A177-3AD203B41FA5}">
                      <a16:colId xmlns:a16="http://schemas.microsoft.com/office/drawing/2014/main" val="3865958461"/>
                    </a:ext>
                  </a:extLst>
                </a:gridCol>
              </a:tblGrid>
              <a:tr h="425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 Requirement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6519604"/>
                  </a:ext>
                </a:extLst>
              </a:tr>
              <a:tr h="716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Confidentiality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RSA Public Key Encryption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099815"/>
                  </a:ext>
                </a:extLst>
              </a:tr>
              <a:tr h="425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Authentication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Signatures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9952566"/>
                  </a:ext>
                </a:extLst>
              </a:tr>
              <a:tr h="425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Integrity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SHA-256 Hashing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9827302"/>
                  </a:ext>
                </a:extLst>
              </a:tr>
              <a:tr h="7162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Secure Login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bcrypt</a:t>
                      </a: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Password Hashing</a:t>
                      </a:r>
                    </a:p>
                  </a:txBody>
                  <a:tcPr marL="96784" marR="96784" marT="48392" marB="483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8797416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34962B3F-518A-1138-AD57-E1EE300A43B8}"/>
              </a:ext>
            </a:extLst>
          </p:cNvPr>
          <p:cNvSpPr txBox="1"/>
          <p:nvPr/>
        </p:nvSpPr>
        <p:spPr>
          <a:xfrm>
            <a:off x="5700881" y="5202705"/>
            <a:ext cx="60982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techniques ensure that votes remain confidential, authentic, and tamper-proof.</a:t>
            </a:r>
          </a:p>
        </p:txBody>
      </p:sp>
    </p:spTree>
    <p:extLst>
      <p:ext uri="{BB962C8B-B14F-4D97-AF65-F5344CB8AC3E}">
        <p14:creationId xmlns:p14="http://schemas.microsoft.com/office/powerpoint/2010/main" val="3304421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D8690-3BFB-2069-CC4C-EA952BB00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High-Level System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242C2-2A34-78F0-7C54-5A3431068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Voting Workflow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registers (password securely hashed)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logs in (hash verification)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is selected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 is encrypted using Election Public Key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Voter digitally signs encrypted vote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SHA-256 hash generated for integrity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vote stored in database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voting ends, admin decrypts votes using private key and counts results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ensures confidentiality, integrity, authentication, and non-repudiation.</a:t>
            </a:r>
          </a:p>
        </p:txBody>
      </p:sp>
    </p:spTree>
    <p:extLst>
      <p:ext uri="{BB962C8B-B14F-4D97-AF65-F5344CB8AC3E}">
        <p14:creationId xmlns:p14="http://schemas.microsoft.com/office/powerpoint/2010/main" val="24607622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838C3-1DFC-78B9-146C-C25B7D6B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Fits Applied Cryptography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9D3BC-44CD-FD18-7DF1-29DF023D6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to Applied Cryptography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practical use of public-key encryption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digital signatures for authentication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secure hashing for integrity verification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vote tampering and impersonation</a:t>
            </a:r>
          </a:p>
          <a:p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Simulates a real-world secure system</a:t>
            </a:r>
          </a:p>
          <a:p>
            <a:pPr marL="0" indent="0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will implement this system using Python cryptographic libraries and analyze its security properties.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1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4DFF-660D-A9E4-7CD4-B5726D8E4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Checkpoints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05C7FD-5C3E-6368-54A7-371DCF6AD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 1: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finalized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 2: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&amp; authentication working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 3: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vote storage &amp; integrity verification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Checkpoint 4: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integration &amp; testing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2127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445E8-96F0-BA63-5DBD-8921089B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Timeline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EAE8929-0AE5-FE89-3542-FF7E2B9274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5061729"/>
              </p:ext>
            </p:extLst>
          </p:nvPr>
        </p:nvGraphicFramePr>
        <p:xfrm>
          <a:off x="1143000" y="2153919"/>
          <a:ext cx="9905999" cy="38311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6398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2609B-8415-0936-4588-F32ED1AF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&amp;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085AB-DF19-94BD-B1F6-C51324754C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RFC 8017 — PKCS #1: RSA Cryptography Standard</a:t>
            </a:r>
            <a:br>
              <a:rPr lang="en-US" dirty="0"/>
            </a:br>
            <a:r>
              <a:rPr lang="en-US" dirty="0">
                <a:hlinkClick r:id="rId3"/>
              </a:rPr>
              <a:t>https://datatracker.ietf.org/doc/html/rfc8017</a:t>
            </a:r>
            <a:endParaRPr lang="en-US" dirty="0"/>
          </a:p>
          <a:p>
            <a:r>
              <a:rPr lang="en-US" dirty="0"/>
              <a:t>NIST FIPS 186-4 — Digital Signature Standard</a:t>
            </a:r>
            <a:br>
              <a:rPr lang="en-US" dirty="0"/>
            </a:br>
            <a:r>
              <a:rPr lang="en-US" dirty="0">
                <a:hlinkClick r:id="rId4"/>
              </a:rPr>
              <a:t>https://nvlpubs.nist.gov/nistpubs/FIPS/NIST.FIPS.186-4.pdf</a:t>
            </a:r>
            <a:endParaRPr lang="en-US" dirty="0"/>
          </a:p>
          <a:p>
            <a:r>
              <a:rPr lang="en-US" dirty="0"/>
              <a:t>NIST FIPS 180-4 — Secure Hash Standard</a:t>
            </a:r>
            <a:br>
              <a:rPr lang="en-US" dirty="0"/>
            </a:br>
            <a:r>
              <a:rPr lang="en-US" dirty="0">
                <a:hlinkClick r:id="rId5"/>
              </a:rPr>
              <a:t>https://nvlpubs.nist.gov/nistpubs/FIPS/NIST.FIPS.180-4.pdf</a:t>
            </a:r>
            <a:endParaRPr lang="en-US" dirty="0"/>
          </a:p>
          <a:p>
            <a:r>
              <a:rPr lang="en-US" dirty="0"/>
              <a:t>Provos &amp; </a:t>
            </a:r>
            <a:r>
              <a:rPr lang="en-US" dirty="0" err="1"/>
              <a:t>Mazieres</a:t>
            </a:r>
            <a:r>
              <a:rPr lang="en-US" dirty="0"/>
              <a:t> — </a:t>
            </a:r>
            <a:r>
              <a:rPr lang="en-US" dirty="0" err="1"/>
              <a:t>bcrypt</a:t>
            </a:r>
            <a:r>
              <a:rPr lang="en-US" dirty="0"/>
              <a:t> Password Scheme</a:t>
            </a:r>
            <a:r>
              <a:rPr lang="en-US" dirty="0">
                <a:hlinkClick r:id="rId6"/>
              </a:rPr>
              <a:t> </a:t>
            </a:r>
            <a:r>
              <a:rPr lang="en-US" dirty="0">
                <a:hlinkClick r:id="rId7"/>
              </a:rPr>
              <a:t>https://www.usenix.org/legacy/events/usenix99/provos/provos.pdf</a:t>
            </a:r>
            <a:endParaRPr lang="en-US" dirty="0"/>
          </a:p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Repository:</a:t>
            </a:r>
            <a:br>
              <a:rPr lang="en-US" dirty="0"/>
            </a:br>
            <a:r>
              <a:rPr lang="en-US" dirty="0"/>
              <a:t>  </a:t>
            </a:r>
            <a:r>
              <a:rPr lang="en-US" dirty="0">
                <a:hlinkClick r:id="rId8"/>
              </a:rPr>
              <a:t>https://github.com/saileshpulukuri/Secure-Digital-Voting-System-Using-Applied-Cryptography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0241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614C296-26CB-43B0-9404-D05FF687A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677978">
            <a:off x="-1328609" y="-131647"/>
            <a:ext cx="3715688" cy="1836942"/>
          </a:xfrm>
          <a:custGeom>
            <a:avLst/>
            <a:gdLst>
              <a:gd name="connsiteX0" fmla="*/ 0 w 5069810"/>
              <a:gd name="connsiteY0" fmla="*/ 2506385 h 2506385"/>
              <a:gd name="connsiteX1" fmla="*/ 2859749 w 5069810"/>
              <a:gd name="connsiteY1" fmla="*/ 1 h 2506385"/>
              <a:gd name="connsiteX2" fmla="*/ 2873126 w 5069810"/>
              <a:gd name="connsiteY2" fmla="*/ 0 h 2506385"/>
              <a:gd name="connsiteX3" fmla="*/ 5069810 w 5069810"/>
              <a:gd name="connsiteY3" fmla="*/ 2506385 h 250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9810" h="2506385">
                <a:moveTo>
                  <a:pt x="0" y="2506385"/>
                </a:moveTo>
                <a:lnTo>
                  <a:pt x="2859749" y="1"/>
                </a:lnTo>
                <a:lnTo>
                  <a:pt x="2873126" y="0"/>
                </a:lnTo>
                <a:lnTo>
                  <a:pt x="5069810" y="25063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6F4C24C-DC25-49C1-9509-3F5694D0D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873948">
            <a:off x="9801250" y="5155580"/>
            <a:ext cx="3715688" cy="1836942"/>
          </a:xfrm>
          <a:custGeom>
            <a:avLst/>
            <a:gdLst>
              <a:gd name="connsiteX0" fmla="*/ 0 w 5069810"/>
              <a:gd name="connsiteY0" fmla="*/ 2506385 h 2506385"/>
              <a:gd name="connsiteX1" fmla="*/ 2859749 w 5069810"/>
              <a:gd name="connsiteY1" fmla="*/ 1 h 2506385"/>
              <a:gd name="connsiteX2" fmla="*/ 2873126 w 5069810"/>
              <a:gd name="connsiteY2" fmla="*/ 0 h 2506385"/>
              <a:gd name="connsiteX3" fmla="*/ 5069810 w 5069810"/>
              <a:gd name="connsiteY3" fmla="*/ 2506385 h 250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9810" h="2506385">
                <a:moveTo>
                  <a:pt x="0" y="2506385"/>
                </a:moveTo>
                <a:lnTo>
                  <a:pt x="2859749" y="1"/>
                </a:lnTo>
                <a:lnTo>
                  <a:pt x="2873126" y="0"/>
                </a:lnTo>
                <a:lnTo>
                  <a:pt x="5069810" y="25063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0FD5E-8615-8C76-D12D-7A27AB1D16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3837" y="2374865"/>
            <a:ext cx="7358051" cy="366224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br>
              <a:rPr lang="en-US" sz="5400" dirty="0"/>
            </a:br>
            <a:endParaRPr lang="en-US" sz="5400" dirty="0"/>
          </a:p>
          <a:p>
            <a:pPr marL="0" indent="0">
              <a:buNone/>
            </a:pPr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THANK YOU ..!</a:t>
            </a:r>
          </a:p>
          <a:p>
            <a:pPr marL="0" indent="0">
              <a:buNone/>
            </a:pPr>
            <a:endParaRPr lang="en-US" sz="5400" dirty="0"/>
          </a:p>
          <a:p>
            <a:pPr marL="0" indent="0" algn="ctr">
              <a:buNone/>
            </a:pPr>
            <a:endParaRPr lang="en-US" sz="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0489027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67</TotalTime>
  <Words>650</Words>
  <Application>Microsoft Macintosh PowerPoint</Application>
  <PresentationFormat>Widescreen</PresentationFormat>
  <Paragraphs>73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Times New Roman</vt:lpstr>
      <vt:lpstr>Walbaum Display</vt:lpstr>
      <vt:lpstr>Wingdings 3</vt:lpstr>
      <vt:lpstr>RegattaVTI</vt:lpstr>
      <vt:lpstr>Secure Digital Voting System Using Applied Cryptography</vt:lpstr>
      <vt:lpstr>Problem Statement</vt:lpstr>
      <vt:lpstr>Cryptographic Techniques Used</vt:lpstr>
      <vt:lpstr>High-Level System Flow</vt:lpstr>
      <vt:lpstr>Why This Fits Applied Cryptography </vt:lpstr>
      <vt:lpstr>Project Checkpoints</vt:lpstr>
      <vt:lpstr>Project Timeline </vt:lpstr>
      <vt:lpstr>References &amp; Repository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Pulukuri, Sailesh (UMKC-Student)</dc:creator>
  <cp:lastModifiedBy>Pulukuri, Sailesh (UMKC-Student)</cp:lastModifiedBy>
  <cp:revision>5</cp:revision>
  <dcterms:created xsi:type="dcterms:W3CDTF">2026-02-27T07:39:59Z</dcterms:created>
  <dcterms:modified xsi:type="dcterms:W3CDTF">2026-02-27T08:47:14Z</dcterms:modified>
</cp:coreProperties>
</file>